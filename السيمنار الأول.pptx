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BM Plex Sans Arabic Bold" charset="1" panose="020B0803050203000203"/>
      <p:regular r:id="rId16"/>
    </p:embeddedFont>
    <p:embeddedFont>
      <p:font typeface="IBM Plex Sans Arabic Semi-Bold" charset="1" panose="020B0703050203000203"/>
      <p:regular r:id="rId17"/>
    </p:embeddedFont>
    <p:embeddedFont>
      <p:font typeface="IBM Plex Sans Arabic" charset="1" panose="020B05030502030002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210207"/>
            <a:ext cx="7702142" cy="7048093"/>
            <a:chOff x="0" y="0"/>
            <a:chExt cx="1972524" cy="18050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72528" cy="1805022"/>
            </a:xfrm>
            <a:custGeom>
              <a:avLst/>
              <a:gdLst/>
              <a:ahLst/>
              <a:cxnLst/>
              <a:rect r="r" b="b" t="t" l="l"/>
              <a:pathLst>
                <a:path h="1805022" w="1972528">
                  <a:moveTo>
                    <a:pt x="1972528" y="1189424"/>
                  </a:moveTo>
                  <a:lnTo>
                    <a:pt x="1972528" y="561989"/>
                  </a:lnTo>
                  <a:cubicBezTo>
                    <a:pt x="1972530" y="522853"/>
                    <a:pt x="1958106" y="485089"/>
                    <a:pt x="1932015" y="455919"/>
                  </a:cubicBezTo>
                  <a:lnTo>
                    <a:pt x="1558263" y="38122"/>
                  </a:lnTo>
                  <a:cubicBezTo>
                    <a:pt x="1536564" y="13865"/>
                    <a:pt x="1505558" y="0"/>
                    <a:pt x="1473012" y="0"/>
                  </a:cubicBezTo>
                  <a:lnTo>
                    <a:pt x="114384" y="0"/>
                  </a:lnTo>
                  <a:cubicBezTo>
                    <a:pt x="51211" y="0"/>
                    <a:pt x="0" y="51211"/>
                    <a:pt x="0" y="114384"/>
                  </a:cubicBezTo>
                  <a:lnTo>
                    <a:pt x="0" y="501214"/>
                  </a:lnTo>
                  <a:lnTo>
                    <a:pt x="0" y="1234766"/>
                  </a:lnTo>
                  <a:cubicBezTo>
                    <a:pt x="0" y="1279232"/>
                    <a:pt x="16390" y="1322137"/>
                    <a:pt x="46036" y="1355277"/>
                  </a:cubicBezTo>
                  <a:lnTo>
                    <a:pt x="414263" y="1766900"/>
                  </a:lnTo>
                  <a:cubicBezTo>
                    <a:pt x="435962" y="1791157"/>
                    <a:pt x="466967" y="1805022"/>
                    <a:pt x="499514" y="1805022"/>
                  </a:cubicBezTo>
                  <a:lnTo>
                    <a:pt x="1456640" y="1805022"/>
                  </a:lnTo>
                  <a:cubicBezTo>
                    <a:pt x="1486977" y="1805022"/>
                    <a:pt x="1516071" y="1792971"/>
                    <a:pt x="1537523" y="1771520"/>
                  </a:cubicBezTo>
                  <a:cubicBezTo>
                    <a:pt x="1558974" y="1750069"/>
                    <a:pt x="1571025" y="1720975"/>
                    <a:pt x="1571025" y="1690638"/>
                  </a:cubicBezTo>
                  <a:lnTo>
                    <a:pt x="1571025" y="1418193"/>
                  </a:lnTo>
                  <a:cubicBezTo>
                    <a:pt x="1571025" y="1355019"/>
                    <a:pt x="1622237" y="1303808"/>
                    <a:pt x="1685410" y="1303808"/>
                  </a:cubicBezTo>
                  <a:lnTo>
                    <a:pt x="1858142" y="1303808"/>
                  </a:lnTo>
                  <a:cubicBezTo>
                    <a:pt x="1888479" y="1303808"/>
                    <a:pt x="1917573" y="1291757"/>
                    <a:pt x="1939025" y="1270306"/>
                  </a:cubicBezTo>
                  <a:cubicBezTo>
                    <a:pt x="1960477" y="1248855"/>
                    <a:pt x="1972528" y="1219761"/>
                    <a:pt x="1972528" y="1189424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210207"/>
            <a:ext cx="7702142" cy="7048093"/>
            <a:chOff x="0" y="0"/>
            <a:chExt cx="1972524" cy="18050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2528" cy="1805022"/>
            </a:xfrm>
            <a:custGeom>
              <a:avLst/>
              <a:gdLst/>
              <a:ahLst/>
              <a:cxnLst/>
              <a:rect r="r" b="b" t="t" l="l"/>
              <a:pathLst>
                <a:path h="1805022" w="1972528">
                  <a:moveTo>
                    <a:pt x="1972528" y="1189424"/>
                  </a:moveTo>
                  <a:lnTo>
                    <a:pt x="1972528" y="561989"/>
                  </a:lnTo>
                  <a:cubicBezTo>
                    <a:pt x="1972530" y="522853"/>
                    <a:pt x="1958106" y="485089"/>
                    <a:pt x="1932015" y="455919"/>
                  </a:cubicBezTo>
                  <a:lnTo>
                    <a:pt x="1558263" y="38122"/>
                  </a:lnTo>
                  <a:cubicBezTo>
                    <a:pt x="1536564" y="13865"/>
                    <a:pt x="1505558" y="0"/>
                    <a:pt x="1473012" y="0"/>
                  </a:cubicBezTo>
                  <a:lnTo>
                    <a:pt x="114384" y="0"/>
                  </a:lnTo>
                  <a:cubicBezTo>
                    <a:pt x="51211" y="0"/>
                    <a:pt x="0" y="51211"/>
                    <a:pt x="0" y="114384"/>
                  </a:cubicBezTo>
                  <a:lnTo>
                    <a:pt x="0" y="501214"/>
                  </a:lnTo>
                  <a:lnTo>
                    <a:pt x="0" y="1234766"/>
                  </a:lnTo>
                  <a:cubicBezTo>
                    <a:pt x="0" y="1279232"/>
                    <a:pt x="16390" y="1322137"/>
                    <a:pt x="46036" y="1355277"/>
                  </a:cubicBezTo>
                  <a:lnTo>
                    <a:pt x="414263" y="1766900"/>
                  </a:lnTo>
                  <a:cubicBezTo>
                    <a:pt x="435962" y="1791157"/>
                    <a:pt x="466967" y="1805022"/>
                    <a:pt x="499514" y="1805022"/>
                  </a:cubicBezTo>
                  <a:lnTo>
                    <a:pt x="1456640" y="1805022"/>
                  </a:lnTo>
                  <a:cubicBezTo>
                    <a:pt x="1486977" y="1805022"/>
                    <a:pt x="1516071" y="1792971"/>
                    <a:pt x="1537523" y="1771520"/>
                  </a:cubicBezTo>
                  <a:cubicBezTo>
                    <a:pt x="1558974" y="1750069"/>
                    <a:pt x="1571025" y="1720975"/>
                    <a:pt x="1571025" y="1690638"/>
                  </a:cubicBezTo>
                  <a:lnTo>
                    <a:pt x="1571025" y="1418193"/>
                  </a:lnTo>
                  <a:cubicBezTo>
                    <a:pt x="1571025" y="1355019"/>
                    <a:pt x="1622237" y="1303808"/>
                    <a:pt x="1685410" y="1303808"/>
                  </a:cubicBezTo>
                  <a:lnTo>
                    <a:pt x="1858142" y="1303808"/>
                  </a:lnTo>
                  <a:cubicBezTo>
                    <a:pt x="1888479" y="1303808"/>
                    <a:pt x="1917573" y="1291757"/>
                    <a:pt x="1939025" y="1270306"/>
                  </a:cubicBezTo>
                  <a:cubicBezTo>
                    <a:pt x="1960477" y="1248855"/>
                    <a:pt x="1972528" y="1219761"/>
                    <a:pt x="1972528" y="1189424"/>
                  </a:cubicBezTo>
                  <a:close/>
                </a:path>
              </a:pathLst>
            </a:custGeom>
            <a:blipFill>
              <a:blip r:embed="rId2"/>
              <a:stretch>
                <a:fillRect l="-25710" t="-4548" r="-23338" b="-324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-2057400"/>
            <a:ext cx="18288000" cy="3593681"/>
            <a:chOff x="0" y="0"/>
            <a:chExt cx="4816593" cy="9464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946484"/>
            </a:xfrm>
            <a:custGeom>
              <a:avLst/>
              <a:gdLst/>
              <a:ahLst/>
              <a:cxnLst/>
              <a:rect r="r" b="b" t="t" l="l"/>
              <a:pathLst>
                <a:path h="946484" w="4816592">
                  <a:moveTo>
                    <a:pt x="27517" y="0"/>
                  </a:moveTo>
                  <a:lnTo>
                    <a:pt x="4789076" y="0"/>
                  </a:lnTo>
                  <a:cubicBezTo>
                    <a:pt x="4796374" y="0"/>
                    <a:pt x="4803373" y="2899"/>
                    <a:pt x="4808533" y="8059"/>
                  </a:cubicBezTo>
                  <a:cubicBezTo>
                    <a:pt x="4813693" y="13220"/>
                    <a:pt x="4816592" y="20219"/>
                    <a:pt x="4816592" y="27517"/>
                  </a:cubicBezTo>
                  <a:lnTo>
                    <a:pt x="4816592" y="918967"/>
                  </a:lnTo>
                  <a:cubicBezTo>
                    <a:pt x="4816592" y="934164"/>
                    <a:pt x="4804273" y="946484"/>
                    <a:pt x="4789076" y="946484"/>
                  </a:cubicBezTo>
                  <a:lnTo>
                    <a:pt x="27517" y="946484"/>
                  </a:lnTo>
                  <a:cubicBezTo>
                    <a:pt x="12320" y="946484"/>
                    <a:pt x="0" y="934164"/>
                    <a:pt x="0" y="918967"/>
                  </a:cubicBezTo>
                  <a:lnTo>
                    <a:pt x="0" y="27517"/>
                  </a:lnTo>
                  <a:cubicBezTo>
                    <a:pt x="0" y="12320"/>
                    <a:pt x="12320" y="0"/>
                    <a:pt x="2751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984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26002" y="7695622"/>
            <a:ext cx="1204841" cy="1204841"/>
            <a:chOff x="0" y="0"/>
            <a:chExt cx="1606454" cy="160645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606454" cy="1606454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E2F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10800000">
              <a:off x="412667" y="412667"/>
              <a:ext cx="781121" cy="781121"/>
              <a:chOff x="0" y="0"/>
              <a:chExt cx="406400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</p:grpSp>
      <p:sp>
        <p:nvSpPr>
          <p:cNvPr name="Freeform 16" id="16"/>
          <p:cNvSpPr/>
          <p:nvPr/>
        </p:nvSpPr>
        <p:spPr>
          <a:xfrm flipH="false" flipV="false" rot="0">
            <a:off x="16494484" y="373987"/>
            <a:ext cx="764816" cy="788470"/>
          </a:xfrm>
          <a:custGeom>
            <a:avLst/>
            <a:gdLst/>
            <a:ahLst/>
            <a:cxnLst/>
            <a:rect r="r" b="b" t="t" l="l"/>
            <a:pathLst>
              <a:path h="788470" w="764816">
                <a:moveTo>
                  <a:pt x="0" y="0"/>
                </a:moveTo>
                <a:lnTo>
                  <a:pt x="764816" y="0"/>
                </a:lnTo>
                <a:lnTo>
                  <a:pt x="764816" y="788470"/>
                </a:lnTo>
                <a:lnTo>
                  <a:pt x="0" y="788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317013" y="3806940"/>
            <a:ext cx="8541123" cy="53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082"/>
              </a:lnSpc>
            </a:pPr>
            <a:r>
              <a:rPr lang="ar-EG" b="true" sz="3851" spc="7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بناء تطبيق استشاري طبي ذكي باللغة العربية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00416" y="6114038"/>
            <a:ext cx="3364708" cy="40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2966"/>
              </a:lnSpc>
              <a:spcBef>
                <a:spcPct val="0"/>
              </a:spcBef>
            </a:pPr>
            <a:r>
              <a:rPr lang="ar-EG" b="true" sz="3027" spc="87" strike="noStrike" u="none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بإشراف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20010" y="5200650"/>
            <a:ext cx="4749918" cy="40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966"/>
              </a:lnSpc>
            </a:pPr>
            <a:r>
              <a:rPr lang="ar-EG" b="true" sz="3027" spc="87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محمد مصطفى شاهين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41641" y="7029186"/>
            <a:ext cx="3364708" cy="40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2966"/>
              </a:lnSpc>
              <a:spcBef>
                <a:spcPct val="0"/>
              </a:spcBef>
            </a:pPr>
            <a:r>
              <a:rPr lang="ar-EG" b="true" sz="3027" spc="87" strike="noStrike" u="none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د.ماجدة البكور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536720"/>
            <a:ext cx="493459" cy="463004"/>
            <a:chOff x="0" y="0"/>
            <a:chExt cx="657945" cy="617339"/>
          </a:xfrm>
        </p:grpSpPr>
        <p:sp>
          <p:nvSpPr>
            <p:cNvPr name="AutoShape 22" id="22"/>
            <p:cNvSpPr/>
            <p:nvPr/>
          </p:nvSpPr>
          <p:spPr>
            <a:xfrm>
              <a:off x="0" y="69850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0" y="30866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4" id="24"/>
            <p:cNvSpPr/>
            <p:nvPr/>
          </p:nvSpPr>
          <p:spPr>
            <a:xfrm>
              <a:off x="0" y="54748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33623"/>
            <a:ext cx="9616012" cy="3230857"/>
            <a:chOff x="0" y="0"/>
            <a:chExt cx="5239253" cy="1760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9257" cy="1760322"/>
            </a:xfrm>
            <a:custGeom>
              <a:avLst/>
              <a:gdLst/>
              <a:ahLst/>
              <a:cxnLst/>
              <a:rect r="r" b="b" t="t" l="l"/>
              <a:pathLst>
                <a:path h="1760322" w="5239257">
                  <a:moveTo>
                    <a:pt x="5239257" y="1144724"/>
                  </a:moveTo>
                  <a:lnTo>
                    <a:pt x="5239257" y="561989"/>
                  </a:lnTo>
                  <a:cubicBezTo>
                    <a:pt x="5239258" y="522853"/>
                    <a:pt x="5224835" y="485089"/>
                    <a:pt x="5198744" y="455919"/>
                  </a:cubicBezTo>
                  <a:lnTo>
                    <a:pt x="4824991" y="38122"/>
                  </a:lnTo>
                  <a:cubicBezTo>
                    <a:pt x="4803292" y="13865"/>
                    <a:pt x="4772287" y="0"/>
                    <a:pt x="4739740" y="0"/>
                  </a:cubicBezTo>
                  <a:lnTo>
                    <a:pt x="114384" y="0"/>
                  </a:lnTo>
                  <a:cubicBezTo>
                    <a:pt x="51211" y="0"/>
                    <a:pt x="0" y="51211"/>
                    <a:pt x="0" y="114384"/>
                  </a:cubicBezTo>
                  <a:lnTo>
                    <a:pt x="0" y="501214"/>
                  </a:lnTo>
                  <a:lnTo>
                    <a:pt x="0" y="1190067"/>
                  </a:lnTo>
                  <a:cubicBezTo>
                    <a:pt x="0" y="1234532"/>
                    <a:pt x="16390" y="1277437"/>
                    <a:pt x="46036" y="1310577"/>
                  </a:cubicBezTo>
                  <a:lnTo>
                    <a:pt x="414263" y="1722200"/>
                  </a:lnTo>
                  <a:cubicBezTo>
                    <a:pt x="435962" y="1746458"/>
                    <a:pt x="466967" y="1760322"/>
                    <a:pt x="499514" y="1760322"/>
                  </a:cubicBezTo>
                  <a:lnTo>
                    <a:pt x="4723368" y="1760322"/>
                  </a:lnTo>
                  <a:cubicBezTo>
                    <a:pt x="4753705" y="1760322"/>
                    <a:pt x="4782800" y="1748271"/>
                    <a:pt x="4804251" y="1726820"/>
                  </a:cubicBezTo>
                  <a:cubicBezTo>
                    <a:pt x="4825702" y="1705369"/>
                    <a:pt x="4837754" y="1676275"/>
                    <a:pt x="4837754" y="1645938"/>
                  </a:cubicBezTo>
                  <a:lnTo>
                    <a:pt x="4837754" y="1373493"/>
                  </a:lnTo>
                  <a:cubicBezTo>
                    <a:pt x="4837754" y="1310320"/>
                    <a:pt x="4888966" y="1259108"/>
                    <a:pt x="4952138" y="1259108"/>
                  </a:cubicBezTo>
                  <a:lnTo>
                    <a:pt x="5124870" y="1259108"/>
                  </a:lnTo>
                  <a:cubicBezTo>
                    <a:pt x="5155207" y="1259108"/>
                    <a:pt x="5184302" y="1247058"/>
                    <a:pt x="5205753" y="1225606"/>
                  </a:cubicBezTo>
                  <a:cubicBezTo>
                    <a:pt x="5227205" y="1204155"/>
                    <a:pt x="5239257" y="1175061"/>
                    <a:pt x="5239257" y="1144724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133623"/>
            <a:ext cx="9616012" cy="3230857"/>
            <a:chOff x="0" y="0"/>
            <a:chExt cx="5239253" cy="17603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39257" cy="1760322"/>
            </a:xfrm>
            <a:custGeom>
              <a:avLst/>
              <a:gdLst/>
              <a:ahLst/>
              <a:cxnLst/>
              <a:rect r="r" b="b" t="t" l="l"/>
              <a:pathLst>
                <a:path h="1760322" w="5239257">
                  <a:moveTo>
                    <a:pt x="5239257" y="1144724"/>
                  </a:moveTo>
                  <a:lnTo>
                    <a:pt x="5239257" y="561989"/>
                  </a:lnTo>
                  <a:cubicBezTo>
                    <a:pt x="5239258" y="522853"/>
                    <a:pt x="5224835" y="485089"/>
                    <a:pt x="5198744" y="455919"/>
                  </a:cubicBezTo>
                  <a:lnTo>
                    <a:pt x="4824991" y="38122"/>
                  </a:lnTo>
                  <a:cubicBezTo>
                    <a:pt x="4803292" y="13865"/>
                    <a:pt x="4772287" y="0"/>
                    <a:pt x="4739740" y="0"/>
                  </a:cubicBezTo>
                  <a:lnTo>
                    <a:pt x="114384" y="0"/>
                  </a:lnTo>
                  <a:cubicBezTo>
                    <a:pt x="51211" y="0"/>
                    <a:pt x="0" y="51211"/>
                    <a:pt x="0" y="114384"/>
                  </a:cubicBezTo>
                  <a:lnTo>
                    <a:pt x="0" y="501214"/>
                  </a:lnTo>
                  <a:lnTo>
                    <a:pt x="0" y="1190067"/>
                  </a:lnTo>
                  <a:cubicBezTo>
                    <a:pt x="0" y="1234532"/>
                    <a:pt x="16390" y="1277437"/>
                    <a:pt x="46036" y="1310577"/>
                  </a:cubicBezTo>
                  <a:lnTo>
                    <a:pt x="414263" y="1722200"/>
                  </a:lnTo>
                  <a:cubicBezTo>
                    <a:pt x="435962" y="1746458"/>
                    <a:pt x="466967" y="1760322"/>
                    <a:pt x="499514" y="1760322"/>
                  </a:cubicBezTo>
                  <a:lnTo>
                    <a:pt x="4723368" y="1760322"/>
                  </a:lnTo>
                  <a:cubicBezTo>
                    <a:pt x="4753705" y="1760322"/>
                    <a:pt x="4782800" y="1748271"/>
                    <a:pt x="4804251" y="1726820"/>
                  </a:cubicBezTo>
                  <a:cubicBezTo>
                    <a:pt x="4825702" y="1705369"/>
                    <a:pt x="4837754" y="1676275"/>
                    <a:pt x="4837754" y="1645938"/>
                  </a:cubicBezTo>
                  <a:lnTo>
                    <a:pt x="4837754" y="1373493"/>
                  </a:lnTo>
                  <a:cubicBezTo>
                    <a:pt x="4837754" y="1310320"/>
                    <a:pt x="4888966" y="1259108"/>
                    <a:pt x="4952138" y="1259108"/>
                  </a:cubicBezTo>
                  <a:lnTo>
                    <a:pt x="5124870" y="1259108"/>
                  </a:lnTo>
                  <a:cubicBezTo>
                    <a:pt x="5155207" y="1259108"/>
                    <a:pt x="5184302" y="1247058"/>
                    <a:pt x="5205753" y="1225606"/>
                  </a:cubicBezTo>
                  <a:cubicBezTo>
                    <a:pt x="5227205" y="1204155"/>
                    <a:pt x="5239257" y="1175061"/>
                    <a:pt x="5239257" y="1144724"/>
                  </a:cubicBezTo>
                  <a:close/>
                </a:path>
              </a:pathLst>
            </a:custGeom>
            <a:blipFill>
              <a:blip r:embed="rId2"/>
              <a:stretch>
                <a:fillRect l="-35673" t="-123822" r="0" b="-45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-2057400"/>
            <a:ext cx="18288000" cy="3593681"/>
            <a:chOff x="0" y="0"/>
            <a:chExt cx="4816593" cy="9464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946484"/>
            </a:xfrm>
            <a:custGeom>
              <a:avLst/>
              <a:gdLst/>
              <a:ahLst/>
              <a:cxnLst/>
              <a:rect r="r" b="b" t="t" l="l"/>
              <a:pathLst>
                <a:path h="946484" w="4816592">
                  <a:moveTo>
                    <a:pt x="27517" y="0"/>
                  </a:moveTo>
                  <a:lnTo>
                    <a:pt x="4789076" y="0"/>
                  </a:lnTo>
                  <a:cubicBezTo>
                    <a:pt x="4796374" y="0"/>
                    <a:pt x="4803373" y="2899"/>
                    <a:pt x="4808533" y="8059"/>
                  </a:cubicBezTo>
                  <a:cubicBezTo>
                    <a:pt x="4813693" y="13220"/>
                    <a:pt x="4816592" y="20219"/>
                    <a:pt x="4816592" y="27517"/>
                  </a:cubicBezTo>
                  <a:lnTo>
                    <a:pt x="4816592" y="918967"/>
                  </a:lnTo>
                  <a:cubicBezTo>
                    <a:pt x="4816592" y="934164"/>
                    <a:pt x="4804273" y="946484"/>
                    <a:pt x="4789076" y="946484"/>
                  </a:cubicBezTo>
                  <a:lnTo>
                    <a:pt x="27517" y="946484"/>
                  </a:lnTo>
                  <a:cubicBezTo>
                    <a:pt x="12320" y="946484"/>
                    <a:pt x="0" y="934164"/>
                    <a:pt x="0" y="918967"/>
                  </a:cubicBezTo>
                  <a:lnTo>
                    <a:pt x="0" y="27517"/>
                  </a:lnTo>
                  <a:cubicBezTo>
                    <a:pt x="0" y="12320"/>
                    <a:pt x="12320" y="0"/>
                    <a:pt x="2751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984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494484" y="373987"/>
            <a:ext cx="764816" cy="788470"/>
          </a:xfrm>
          <a:custGeom>
            <a:avLst/>
            <a:gdLst/>
            <a:ahLst/>
            <a:cxnLst/>
            <a:rect r="r" b="b" t="t" l="l"/>
            <a:pathLst>
              <a:path h="788470" w="764816">
                <a:moveTo>
                  <a:pt x="0" y="0"/>
                </a:moveTo>
                <a:lnTo>
                  <a:pt x="764816" y="0"/>
                </a:lnTo>
                <a:lnTo>
                  <a:pt x="764816" y="788470"/>
                </a:lnTo>
                <a:lnTo>
                  <a:pt x="0" y="788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536720"/>
            <a:ext cx="493459" cy="463004"/>
            <a:chOff x="0" y="0"/>
            <a:chExt cx="657945" cy="617339"/>
          </a:xfrm>
        </p:grpSpPr>
        <p:sp>
          <p:nvSpPr>
            <p:cNvPr name="AutoShape 11" id="11"/>
            <p:cNvSpPr/>
            <p:nvPr/>
          </p:nvSpPr>
          <p:spPr>
            <a:xfrm>
              <a:off x="0" y="69850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0" y="30866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0" y="54748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644712" y="3589889"/>
            <a:ext cx="6614588" cy="768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926"/>
              </a:lnSpc>
            </a:pPr>
            <a:r>
              <a:rPr lang="ar-EG" b="true" sz="5590" spc="11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المشكلة البحثية: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87587" y="6424914"/>
            <a:ext cx="5824315" cy="88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2336"/>
              </a:lnSpc>
            </a:pPr>
            <a:r>
              <a:rPr lang="ar-EG" b="true" sz="2204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نقص الأنظمة الطبية الذكية القادرة على فهم اللغة العربية وتحليل الأسئلة الطبية بدقة</a:t>
            </a:r>
          </a:p>
          <a:p>
            <a:pPr algn="just" rtl="true">
              <a:lnSpc>
                <a:spcPts val="233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6595714" y="6424914"/>
            <a:ext cx="663586" cy="2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22159" y="6424914"/>
            <a:ext cx="8312925" cy="29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2282"/>
              </a:lnSpc>
            </a:pPr>
            <a:r>
              <a:rPr lang="ar-EG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نقص الأنظمة التي تدعم التعرف على الأمراض الجلدية من خلال الصورة فقط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81126" y="6424914"/>
            <a:ext cx="663586" cy="2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69238" y="7982886"/>
            <a:ext cx="4426476" cy="57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2282"/>
              </a:lnSpc>
            </a:pPr>
            <a:r>
              <a:rPr lang="ar-EG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كلفة الإستشارة الطبية العالية للمريض</a:t>
            </a:r>
          </a:p>
          <a:p>
            <a:pPr algn="just" rtl="true">
              <a:lnSpc>
                <a:spcPts val="2282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6595714" y="7982886"/>
            <a:ext cx="663586" cy="2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27493" y="8043195"/>
            <a:ext cx="5153633" cy="57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2282"/>
              </a:lnSpc>
            </a:pPr>
            <a:r>
              <a:rPr lang="ar-EG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عدم القدرة على الوصول الى المعلومة بأي وقت</a:t>
            </a:r>
          </a:p>
          <a:p>
            <a:pPr algn="just" rtl="true">
              <a:lnSpc>
                <a:spcPts val="2282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9981126" y="8043195"/>
            <a:ext cx="663586" cy="2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052563" y="4611146"/>
            <a:ext cx="592149" cy="592149"/>
            <a:chOff x="0" y="0"/>
            <a:chExt cx="789532" cy="789532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789532" cy="789532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E2F6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-10800000">
              <a:off x="202815" y="202815"/>
              <a:ext cx="383901" cy="383901"/>
              <a:chOff x="0" y="0"/>
              <a:chExt cx="406400" cy="406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057400"/>
            <a:ext cx="18288000" cy="3593681"/>
            <a:chOff x="0" y="0"/>
            <a:chExt cx="4816593" cy="946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46484"/>
            </a:xfrm>
            <a:custGeom>
              <a:avLst/>
              <a:gdLst/>
              <a:ahLst/>
              <a:cxnLst/>
              <a:rect r="r" b="b" t="t" l="l"/>
              <a:pathLst>
                <a:path h="946484" w="4816592">
                  <a:moveTo>
                    <a:pt x="27517" y="0"/>
                  </a:moveTo>
                  <a:lnTo>
                    <a:pt x="4789076" y="0"/>
                  </a:lnTo>
                  <a:cubicBezTo>
                    <a:pt x="4796374" y="0"/>
                    <a:pt x="4803373" y="2899"/>
                    <a:pt x="4808533" y="8059"/>
                  </a:cubicBezTo>
                  <a:cubicBezTo>
                    <a:pt x="4813693" y="13220"/>
                    <a:pt x="4816592" y="20219"/>
                    <a:pt x="4816592" y="27517"/>
                  </a:cubicBezTo>
                  <a:lnTo>
                    <a:pt x="4816592" y="918967"/>
                  </a:lnTo>
                  <a:cubicBezTo>
                    <a:pt x="4816592" y="934164"/>
                    <a:pt x="4804273" y="946484"/>
                    <a:pt x="4789076" y="946484"/>
                  </a:cubicBezTo>
                  <a:lnTo>
                    <a:pt x="27517" y="946484"/>
                  </a:lnTo>
                  <a:cubicBezTo>
                    <a:pt x="12320" y="946484"/>
                    <a:pt x="0" y="934164"/>
                    <a:pt x="0" y="918967"/>
                  </a:cubicBezTo>
                  <a:lnTo>
                    <a:pt x="0" y="27517"/>
                  </a:lnTo>
                  <a:cubicBezTo>
                    <a:pt x="0" y="12320"/>
                    <a:pt x="12320" y="0"/>
                    <a:pt x="2751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984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494484" y="373987"/>
            <a:ext cx="764816" cy="788470"/>
          </a:xfrm>
          <a:custGeom>
            <a:avLst/>
            <a:gdLst/>
            <a:ahLst/>
            <a:cxnLst/>
            <a:rect r="r" b="b" t="t" l="l"/>
            <a:pathLst>
              <a:path h="788470" w="764816">
                <a:moveTo>
                  <a:pt x="0" y="0"/>
                </a:moveTo>
                <a:lnTo>
                  <a:pt x="764816" y="0"/>
                </a:lnTo>
                <a:lnTo>
                  <a:pt x="764816" y="788470"/>
                </a:lnTo>
                <a:lnTo>
                  <a:pt x="0" y="788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36720"/>
            <a:ext cx="493459" cy="463004"/>
            <a:chOff x="0" y="0"/>
            <a:chExt cx="657945" cy="617339"/>
          </a:xfrm>
        </p:grpSpPr>
        <p:sp>
          <p:nvSpPr>
            <p:cNvPr name="AutoShape 7" id="7"/>
            <p:cNvSpPr/>
            <p:nvPr/>
          </p:nvSpPr>
          <p:spPr>
            <a:xfrm>
              <a:off x="0" y="69850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0" y="30866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54748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10" id="10"/>
          <p:cNvSpPr/>
          <p:nvPr/>
        </p:nvSpPr>
        <p:spPr>
          <a:xfrm>
            <a:off x="9015242" y="4125651"/>
            <a:ext cx="0" cy="342398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8889837" y="4062774"/>
            <a:ext cx="250811" cy="25081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89837" y="5180115"/>
            <a:ext cx="250811" cy="25081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89837" y="6302171"/>
            <a:ext cx="250811" cy="25081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89837" y="7424228"/>
            <a:ext cx="250811" cy="25081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460289" y="5400395"/>
            <a:ext cx="6799011" cy="3857905"/>
            <a:chOff x="0" y="0"/>
            <a:chExt cx="3564076" cy="2022334"/>
          </a:xfrm>
        </p:grpSpPr>
        <p:sp>
          <p:nvSpPr>
            <p:cNvPr name="Freeform 24" id="24"/>
            <p:cNvSpPr/>
            <p:nvPr/>
          </p:nvSpPr>
          <p:spPr>
            <a:xfrm flipH="true" flipV="false" rot="0">
              <a:off x="0" y="0"/>
              <a:ext cx="3564075" cy="2022334"/>
            </a:xfrm>
            <a:custGeom>
              <a:avLst/>
              <a:gdLst/>
              <a:ahLst/>
              <a:cxnLst/>
              <a:rect r="r" b="b" t="t" l="l"/>
              <a:pathLst>
                <a:path h="2022334" w="3564075">
                  <a:moveTo>
                    <a:pt x="414262" y="38122"/>
                  </a:moveTo>
                  <a:cubicBezTo>
                    <a:pt x="435962" y="13865"/>
                    <a:pt x="466967" y="0"/>
                    <a:pt x="972584" y="0"/>
                  </a:cubicBezTo>
                  <a:lnTo>
                    <a:pt x="3035108" y="0"/>
                  </a:lnTo>
                  <a:cubicBezTo>
                    <a:pt x="3098280" y="0"/>
                    <a:pt x="3149492" y="51211"/>
                    <a:pt x="3149492" y="114384"/>
                  </a:cubicBezTo>
                  <a:lnTo>
                    <a:pt x="3149492" y="386829"/>
                  </a:lnTo>
                  <a:cubicBezTo>
                    <a:pt x="3149492" y="417166"/>
                    <a:pt x="3161543" y="446260"/>
                    <a:pt x="3182994" y="467712"/>
                  </a:cubicBezTo>
                  <a:cubicBezTo>
                    <a:pt x="3204446" y="489163"/>
                    <a:pt x="3233540" y="501214"/>
                    <a:pt x="3263877" y="501214"/>
                  </a:cubicBezTo>
                  <a:lnTo>
                    <a:pt x="3449692" y="501214"/>
                  </a:lnTo>
                  <a:cubicBezTo>
                    <a:pt x="3480028" y="501214"/>
                    <a:pt x="3509122" y="513266"/>
                    <a:pt x="3530573" y="534717"/>
                  </a:cubicBezTo>
                  <a:cubicBezTo>
                    <a:pt x="3552024" y="556168"/>
                    <a:pt x="3564075" y="585262"/>
                    <a:pt x="3564075" y="615598"/>
                  </a:cubicBezTo>
                  <a:lnTo>
                    <a:pt x="3564075" y="1411560"/>
                  </a:lnTo>
                  <a:cubicBezTo>
                    <a:pt x="3564076" y="1439699"/>
                    <a:pt x="3553704" y="1466850"/>
                    <a:pt x="3534943" y="1487822"/>
                  </a:cubicBezTo>
                  <a:lnTo>
                    <a:pt x="3315077" y="1733605"/>
                  </a:lnTo>
                  <a:cubicBezTo>
                    <a:pt x="3293377" y="1757862"/>
                    <a:pt x="3262372" y="1771727"/>
                    <a:pt x="3229825" y="1771727"/>
                  </a:cubicBezTo>
                  <a:lnTo>
                    <a:pt x="2976460" y="1771727"/>
                  </a:lnTo>
                  <a:cubicBezTo>
                    <a:pt x="2943913" y="1771727"/>
                    <a:pt x="2912908" y="1785592"/>
                    <a:pt x="2891208" y="1809850"/>
                  </a:cubicBezTo>
                  <a:lnTo>
                    <a:pt x="2735232" y="1984212"/>
                  </a:lnTo>
                  <a:cubicBezTo>
                    <a:pt x="2713532" y="2008469"/>
                    <a:pt x="2682527" y="2022334"/>
                    <a:pt x="2649980" y="2022334"/>
                  </a:cubicBezTo>
                  <a:lnTo>
                    <a:pt x="114385" y="2022334"/>
                  </a:lnTo>
                  <a:cubicBezTo>
                    <a:pt x="84048" y="2022334"/>
                    <a:pt x="54954" y="2010283"/>
                    <a:pt x="33503" y="1988832"/>
                  </a:cubicBezTo>
                  <a:cubicBezTo>
                    <a:pt x="12051" y="1967380"/>
                    <a:pt x="0" y="1938286"/>
                    <a:pt x="0" y="1907950"/>
                  </a:cubicBezTo>
                  <a:lnTo>
                    <a:pt x="0" y="1771727"/>
                  </a:lnTo>
                  <a:lnTo>
                    <a:pt x="0" y="567445"/>
                  </a:lnTo>
                  <a:cubicBezTo>
                    <a:pt x="0" y="524794"/>
                    <a:pt x="15722" y="483639"/>
                    <a:pt x="44158" y="451851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460289" y="5370894"/>
            <a:ext cx="6799011" cy="3857905"/>
            <a:chOff x="0" y="0"/>
            <a:chExt cx="3564076" cy="2022334"/>
          </a:xfrm>
        </p:grpSpPr>
        <p:sp>
          <p:nvSpPr>
            <p:cNvPr name="Freeform 26" id="26"/>
            <p:cNvSpPr/>
            <p:nvPr/>
          </p:nvSpPr>
          <p:spPr>
            <a:xfrm flipH="true" flipV="false" rot="-2932584">
              <a:off x="148949" y="-636948"/>
              <a:ext cx="3186423" cy="3608532"/>
            </a:xfrm>
            <a:custGeom>
              <a:avLst/>
              <a:gdLst/>
              <a:ahLst/>
              <a:cxnLst/>
              <a:rect r="r" b="b" t="t" l="l"/>
              <a:pathLst>
                <a:path h="3608532" w="3186423">
                  <a:moveTo>
                    <a:pt x="535" y="2038492"/>
                  </a:moveTo>
                  <a:cubicBezTo>
                    <a:pt x="-3466" y="2006193"/>
                    <a:pt x="6481" y="1973718"/>
                    <a:pt x="339018" y="1592841"/>
                  </a:cubicBezTo>
                  <a:lnTo>
                    <a:pt x="1695510" y="39157"/>
                  </a:lnTo>
                  <a:cubicBezTo>
                    <a:pt x="1737058" y="-8431"/>
                    <a:pt x="1809316" y="-13327"/>
                    <a:pt x="1856903" y="28221"/>
                  </a:cubicBezTo>
                  <a:lnTo>
                    <a:pt x="2062134" y="207404"/>
                  </a:lnTo>
                  <a:cubicBezTo>
                    <a:pt x="2084987" y="227356"/>
                    <a:pt x="2114829" y="237413"/>
                    <a:pt x="2145097" y="235362"/>
                  </a:cubicBezTo>
                  <a:cubicBezTo>
                    <a:pt x="2175364" y="233311"/>
                    <a:pt x="2203577" y="219321"/>
                    <a:pt x="2223529" y="196468"/>
                  </a:cubicBezTo>
                  <a:lnTo>
                    <a:pt x="2345737" y="56495"/>
                  </a:lnTo>
                  <a:cubicBezTo>
                    <a:pt x="2365689" y="33643"/>
                    <a:pt x="2393902" y="19652"/>
                    <a:pt x="2424169" y="17602"/>
                  </a:cubicBezTo>
                  <a:cubicBezTo>
                    <a:pt x="2454436" y="15551"/>
                    <a:pt x="2484278" y="25607"/>
                    <a:pt x="2507130" y="45559"/>
                  </a:cubicBezTo>
                  <a:lnTo>
                    <a:pt x="3106722" y="569052"/>
                  </a:lnTo>
                  <a:cubicBezTo>
                    <a:pt x="3127919" y="587558"/>
                    <a:pt x="3141551" y="613228"/>
                    <a:pt x="3145010" y="641154"/>
                  </a:cubicBezTo>
                  <a:lnTo>
                    <a:pt x="3185554" y="968425"/>
                  </a:lnTo>
                  <a:cubicBezTo>
                    <a:pt x="3189555" y="1000725"/>
                    <a:pt x="3179607" y="1033199"/>
                    <a:pt x="3158202" y="1057716"/>
                  </a:cubicBezTo>
                  <a:lnTo>
                    <a:pt x="2991568" y="1248574"/>
                  </a:lnTo>
                  <a:cubicBezTo>
                    <a:pt x="2970162" y="1273092"/>
                    <a:pt x="2960214" y="1305567"/>
                    <a:pt x="2964216" y="1337867"/>
                  </a:cubicBezTo>
                  <a:lnTo>
                    <a:pt x="2992978" y="1570038"/>
                  </a:lnTo>
                  <a:cubicBezTo>
                    <a:pt x="2996980" y="1602338"/>
                    <a:pt x="2987032" y="1634813"/>
                    <a:pt x="2965626" y="1659330"/>
                  </a:cubicBezTo>
                  <a:lnTo>
                    <a:pt x="1298002" y="3569375"/>
                  </a:lnTo>
                  <a:cubicBezTo>
                    <a:pt x="1278051" y="3592228"/>
                    <a:pt x="1249838" y="3606218"/>
                    <a:pt x="1219570" y="3608269"/>
                  </a:cubicBezTo>
                  <a:cubicBezTo>
                    <a:pt x="1189303" y="3610320"/>
                    <a:pt x="1159461" y="3600264"/>
                    <a:pt x="1136608" y="3580312"/>
                  </a:cubicBezTo>
                  <a:lnTo>
                    <a:pt x="1033993" y="3490720"/>
                  </a:lnTo>
                  <a:lnTo>
                    <a:pt x="126816" y="2698681"/>
                  </a:lnTo>
                  <a:cubicBezTo>
                    <a:pt x="94687" y="2670630"/>
                    <a:pt x="74025" y="2631720"/>
                    <a:pt x="68782" y="2589393"/>
                  </a:cubicBezTo>
                  <a:close/>
                </a:path>
              </a:pathLst>
            </a:custGeom>
            <a:blipFill>
              <a:blip r:embed="rId4"/>
              <a:stretch>
                <a:fillRect l="-21208" t="-7687" r="-52358" b="-13768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431369" y="3332354"/>
            <a:ext cx="7445523" cy="85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6670"/>
              </a:lnSpc>
            </a:pPr>
            <a:r>
              <a:rPr lang="ar-EG" b="true" sz="6293" spc="12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أهد</a:t>
            </a:r>
            <a:r>
              <a:rPr lang="ar-EG" b="true" sz="6293" spc="12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اف المشروع 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0" y="4020446"/>
            <a:ext cx="8744270" cy="61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408"/>
              </a:lnSpc>
            </a:pPr>
            <a:r>
              <a:rPr lang="ar-EG" b="true" sz="2272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تطوير نظام استشاري طبي ذكي باللغة العربية يعتمد على تقنيات معالجة اللغة</a:t>
            </a:r>
          </a:p>
          <a:p>
            <a:pPr algn="r" rtl="true">
              <a:lnSpc>
                <a:spcPts val="2408"/>
              </a:lnSpc>
            </a:pPr>
            <a:r>
              <a:rPr lang="ar-EG" b="true" sz="2272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الطبيعية ( </a:t>
            </a:r>
            <a:r>
              <a:rPr lang="en-US" b="true" sz="2272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NLP</a:t>
            </a:r>
            <a:r>
              <a:rPr lang="ar-EG" b="true" sz="2272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 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98564" y="5210978"/>
            <a:ext cx="8345707" cy="32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2570"/>
              </a:lnSpc>
              <a:spcBef>
                <a:spcPct val="0"/>
              </a:spcBef>
            </a:pPr>
            <a:r>
              <a:rPr lang="ar-EG" b="true" sz="2425" spc="4" strike="noStrike" u="none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تدريب نموذج قادر على تصنيف الأمراض الجلدية من خلال الصورة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22159" y="6245343"/>
            <a:ext cx="7222111" cy="326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570"/>
              </a:lnSpc>
            </a:pPr>
            <a:r>
              <a:rPr lang="ar-EG" b="true" sz="2425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الحصول على معلومات طبية أولية موثوقة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0664" y="7357922"/>
            <a:ext cx="8663606" cy="621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2408"/>
              </a:lnSpc>
              <a:spcBef>
                <a:spcPct val="0"/>
              </a:spcBef>
            </a:pPr>
            <a:r>
              <a:rPr lang="ar-EG" b="true" sz="2272" spc="4" strike="noStrike" u="none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إنشاء تطبيق تفاعليي يسمح للمستخدم العربي بالاستفادة منه في المجال الطبي</a:t>
            </a:r>
          </a:p>
          <a:p>
            <a:pPr algn="r" rtl="true" marL="0" indent="0" lvl="0">
              <a:lnSpc>
                <a:spcPts val="2408"/>
              </a:lnSpc>
              <a:spcBef>
                <a:spcPct val="0"/>
              </a:spcBef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10460289" y="5550382"/>
            <a:ext cx="592149" cy="592149"/>
            <a:chOff x="0" y="0"/>
            <a:chExt cx="789532" cy="789532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789532" cy="789532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E2F6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-10800000">
              <a:off x="202815" y="202815"/>
              <a:ext cx="383901" cy="383901"/>
              <a:chOff x="0" y="0"/>
              <a:chExt cx="406400" cy="4064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057400"/>
            <a:ext cx="18288000" cy="3593681"/>
            <a:chOff x="0" y="0"/>
            <a:chExt cx="4816593" cy="946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46484"/>
            </a:xfrm>
            <a:custGeom>
              <a:avLst/>
              <a:gdLst/>
              <a:ahLst/>
              <a:cxnLst/>
              <a:rect r="r" b="b" t="t" l="l"/>
              <a:pathLst>
                <a:path h="946484" w="4816592">
                  <a:moveTo>
                    <a:pt x="27517" y="0"/>
                  </a:moveTo>
                  <a:lnTo>
                    <a:pt x="4789076" y="0"/>
                  </a:lnTo>
                  <a:cubicBezTo>
                    <a:pt x="4796374" y="0"/>
                    <a:pt x="4803373" y="2899"/>
                    <a:pt x="4808533" y="8059"/>
                  </a:cubicBezTo>
                  <a:cubicBezTo>
                    <a:pt x="4813693" y="13220"/>
                    <a:pt x="4816592" y="20219"/>
                    <a:pt x="4816592" y="27517"/>
                  </a:cubicBezTo>
                  <a:lnTo>
                    <a:pt x="4816592" y="918967"/>
                  </a:lnTo>
                  <a:cubicBezTo>
                    <a:pt x="4816592" y="934164"/>
                    <a:pt x="4804273" y="946484"/>
                    <a:pt x="4789076" y="946484"/>
                  </a:cubicBezTo>
                  <a:lnTo>
                    <a:pt x="27517" y="946484"/>
                  </a:lnTo>
                  <a:cubicBezTo>
                    <a:pt x="12320" y="946484"/>
                    <a:pt x="0" y="934164"/>
                    <a:pt x="0" y="918967"/>
                  </a:cubicBezTo>
                  <a:lnTo>
                    <a:pt x="0" y="27517"/>
                  </a:lnTo>
                  <a:cubicBezTo>
                    <a:pt x="0" y="12320"/>
                    <a:pt x="12320" y="0"/>
                    <a:pt x="2751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984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494484" y="373987"/>
            <a:ext cx="764816" cy="788470"/>
          </a:xfrm>
          <a:custGeom>
            <a:avLst/>
            <a:gdLst/>
            <a:ahLst/>
            <a:cxnLst/>
            <a:rect r="r" b="b" t="t" l="l"/>
            <a:pathLst>
              <a:path h="788470" w="764816">
                <a:moveTo>
                  <a:pt x="0" y="0"/>
                </a:moveTo>
                <a:lnTo>
                  <a:pt x="764816" y="0"/>
                </a:lnTo>
                <a:lnTo>
                  <a:pt x="764816" y="788470"/>
                </a:lnTo>
                <a:lnTo>
                  <a:pt x="0" y="788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36720"/>
            <a:ext cx="493459" cy="463004"/>
            <a:chOff x="0" y="0"/>
            <a:chExt cx="657945" cy="617339"/>
          </a:xfrm>
        </p:grpSpPr>
        <p:sp>
          <p:nvSpPr>
            <p:cNvPr name="AutoShape 7" id="7"/>
            <p:cNvSpPr/>
            <p:nvPr/>
          </p:nvSpPr>
          <p:spPr>
            <a:xfrm>
              <a:off x="0" y="69850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0" y="30866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54748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487812" y="2168930"/>
            <a:ext cx="4812505" cy="7124677"/>
            <a:chOff x="0" y="0"/>
            <a:chExt cx="1199778" cy="17762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99777" cy="1776213"/>
            </a:xfrm>
            <a:custGeom>
              <a:avLst/>
              <a:gdLst/>
              <a:ahLst/>
              <a:cxnLst/>
              <a:rect r="r" b="b" t="t" l="l"/>
              <a:pathLst>
                <a:path h="1776213" w="1199777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1653512"/>
                  </a:lnTo>
                  <a:cubicBezTo>
                    <a:pt x="1" y="1721278"/>
                    <a:pt x="54936" y="1776213"/>
                    <a:pt x="122702" y="1776213"/>
                  </a:cubicBezTo>
                  <a:lnTo>
                    <a:pt x="1077074" y="1776213"/>
                  </a:lnTo>
                  <a:cubicBezTo>
                    <a:pt x="1144841" y="1776213"/>
                    <a:pt x="1199776" y="1721278"/>
                    <a:pt x="1199777" y="1653512"/>
                  </a:cubicBezTo>
                  <a:lnTo>
                    <a:pt x="1199777" y="122701"/>
                  </a:lnTo>
                  <a:cubicBezTo>
                    <a:pt x="1199776" y="54935"/>
                    <a:pt x="1144841" y="1"/>
                    <a:pt x="1077076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487812" y="2133623"/>
            <a:ext cx="4812505" cy="7124677"/>
            <a:chOff x="0" y="0"/>
            <a:chExt cx="1199778" cy="17762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9777" cy="1776213"/>
            </a:xfrm>
            <a:custGeom>
              <a:avLst/>
              <a:gdLst/>
              <a:ahLst/>
              <a:cxnLst/>
              <a:rect r="r" b="b" t="t" l="l"/>
              <a:pathLst>
                <a:path h="1776213" w="1199777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1653512"/>
                  </a:lnTo>
                  <a:cubicBezTo>
                    <a:pt x="1" y="1721278"/>
                    <a:pt x="54936" y="1776213"/>
                    <a:pt x="122702" y="1776213"/>
                  </a:cubicBezTo>
                  <a:lnTo>
                    <a:pt x="1077074" y="1776213"/>
                  </a:lnTo>
                  <a:cubicBezTo>
                    <a:pt x="1144841" y="1776213"/>
                    <a:pt x="1199776" y="1721278"/>
                    <a:pt x="1199777" y="1653512"/>
                  </a:cubicBezTo>
                  <a:lnTo>
                    <a:pt x="1199777" y="122701"/>
                  </a:lnTo>
                  <a:cubicBezTo>
                    <a:pt x="1199776" y="54935"/>
                    <a:pt x="1144841" y="1"/>
                    <a:pt x="1077076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-4072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428639" y="5210175"/>
            <a:ext cx="6643366" cy="71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507"/>
              </a:lnSpc>
            </a:pPr>
            <a:r>
              <a:rPr lang="ar-EG" b="true" sz="5195" spc="10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ما تم إنجازه في التخرج </a:t>
            </a:r>
            <a:r>
              <a:rPr lang="en-US" b="true" sz="5195" spc="10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162288"/>
            <a:ext cx="4434347" cy="295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ar-EG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معالجة الداتا وتحويلها الى </a:t>
            </a: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VECTORS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5430" y="3595998"/>
            <a:ext cx="4187617" cy="866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ar-EG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بناء نظام </a:t>
            </a: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RAG</a:t>
            </a:r>
            <a:r>
              <a:rPr lang="ar-EG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 يقوم بالبحث عن اسئلة مشابهة بالداتا وجلب الاجوبة المناسبة للسؤال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63047" y="2162198"/>
            <a:ext cx="633765" cy="2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63047" y="3595908"/>
            <a:ext cx="633765" cy="2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5430" y="5032395"/>
            <a:ext cx="4187617" cy="58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ar-EG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تمرير السؤال والأجوبة الى نموذج </a:t>
            </a: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LLM</a:t>
            </a:r>
            <a:r>
              <a:rPr lang="ar-EG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 يقوم بتوليد جواب مناسب للسؤال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63047" y="5032305"/>
            <a:ext cx="633765" cy="2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9007" y="6468793"/>
            <a:ext cx="4844040" cy="58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ar-EG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الحصول على جواب منطقي للسؤال الذي تم طرحه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63047" y="6468703"/>
            <a:ext cx="633765" cy="2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87812" y="2317322"/>
            <a:ext cx="916280" cy="916280"/>
            <a:chOff x="0" y="0"/>
            <a:chExt cx="1221706" cy="1221706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221706" cy="1221706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E2F6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-10800000">
              <a:off x="313832" y="313832"/>
              <a:ext cx="594041" cy="594041"/>
              <a:chOff x="0" y="0"/>
              <a:chExt cx="406400" cy="406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057400"/>
            <a:ext cx="18288000" cy="3593681"/>
            <a:chOff x="0" y="0"/>
            <a:chExt cx="4816593" cy="946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46484"/>
            </a:xfrm>
            <a:custGeom>
              <a:avLst/>
              <a:gdLst/>
              <a:ahLst/>
              <a:cxnLst/>
              <a:rect r="r" b="b" t="t" l="l"/>
              <a:pathLst>
                <a:path h="946484" w="4816592">
                  <a:moveTo>
                    <a:pt x="27517" y="0"/>
                  </a:moveTo>
                  <a:lnTo>
                    <a:pt x="4789076" y="0"/>
                  </a:lnTo>
                  <a:cubicBezTo>
                    <a:pt x="4796374" y="0"/>
                    <a:pt x="4803373" y="2899"/>
                    <a:pt x="4808533" y="8059"/>
                  </a:cubicBezTo>
                  <a:cubicBezTo>
                    <a:pt x="4813693" y="13220"/>
                    <a:pt x="4816592" y="20219"/>
                    <a:pt x="4816592" y="27517"/>
                  </a:cubicBezTo>
                  <a:lnTo>
                    <a:pt x="4816592" y="918967"/>
                  </a:lnTo>
                  <a:cubicBezTo>
                    <a:pt x="4816592" y="934164"/>
                    <a:pt x="4804273" y="946484"/>
                    <a:pt x="4789076" y="946484"/>
                  </a:cubicBezTo>
                  <a:lnTo>
                    <a:pt x="27517" y="946484"/>
                  </a:lnTo>
                  <a:cubicBezTo>
                    <a:pt x="12320" y="946484"/>
                    <a:pt x="0" y="934164"/>
                    <a:pt x="0" y="918967"/>
                  </a:cubicBezTo>
                  <a:lnTo>
                    <a:pt x="0" y="27517"/>
                  </a:lnTo>
                  <a:cubicBezTo>
                    <a:pt x="0" y="12320"/>
                    <a:pt x="12320" y="0"/>
                    <a:pt x="2751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984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494484" y="373987"/>
            <a:ext cx="764816" cy="788470"/>
          </a:xfrm>
          <a:custGeom>
            <a:avLst/>
            <a:gdLst/>
            <a:ahLst/>
            <a:cxnLst/>
            <a:rect r="r" b="b" t="t" l="l"/>
            <a:pathLst>
              <a:path h="788470" w="764816">
                <a:moveTo>
                  <a:pt x="0" y="0"/>
                </a:moveTo>
                <a:lnTo>
                  <a:pt x="764816" y="0"/>
                </a:lnTo>
                <a:lnTo>
                  <a:pt x="764816" y="788470"/>
                </a:lnTo>
                <a:lnTo>
                  <a:pt x="0" y="788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36720"/>
            <a:ext cx="493459" cy="463004"/>
            <a:chOff x="0" y="0"/>
            <a:chExt cx="657945" cy="617339"/>
          </a:xfrm>
        </p:grpSpPr>
        <p:sp>
          <p:nvSpPr>
            <p:cNvPr name="AutoShape 7" id="7"/>
            <p:cNvSpPr/>
            <p:nvPr/>
          </p:nvSpPr>
          <p:spPr>
            <a:xfrm>
              <a:off x="0" y="69850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0" y="30866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54748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21039" y="2533978"/>
            <a:ext cx="12984501" cy="6476060"/>
          </a:xfrm>
          <a:custGeom>
            <a:avLst/>
            <a:gdLst/>
            <a:ahLst/>
            <a:cxnLst/>
            <a:rect r="r" b="b" t="t" l="l"/>
            <a:pathLst>
              <a:path h="6476060" w="12984501">
                <a:moveTo>
                  <a:pt x="0" y="0"/>
                </a:moveTo>
                <a:lnTo>
                  <a:pt x="12984501" y="0"/>
                </a:lnTo>
                <a:lnTo>
                  <a:pt x="12984501" y="6476060"/>
                </a:lnTo>
                <a:lnTo>
                  <a:pt x="0" y="6476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156956" y="2208034"/>
            <a:ext cx="7957823" cy="71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507"/>
              </a:lnSpc>
            </a:pPr>
            <a:r>
              <a:rPr lang="ar-EG" b="true" sz="5195" spc="10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الدراسات المرجعية: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057400"/>
            <a:ext cx="18288000" cy="3593681"/>
            <a:chOff x="0" y="0"/>
            <a:chExt cx="4816593" cy="946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46484"/>
            </a:xfrm>
            <a:custGeom>
              <a:avLst/>
              <a:gdLst/>
              <a:ahLst/>
              <a:cxnLst/>
              <a:rect r="r" b="b" t="t" l="l"/>
              <a:pathLst>
                <a:path h="946484" w="4816592">
                  <a:moveTo>
                    <a:pt x="27517" y="0"/>
                  </a:moveTo>
                  <a:lnTo>
                    <a:pt x="4789076" y="0"/>
                  </a:lnTo>
                  <a:cubicBezTo>
                    <a:pt x="4796374" y="0"/>
                    <a:pt x="4803373" y="2899"/>
                    <a:pt x="4808533" y="8059"/>
                  </a:cubicBezTo>
                  <a:cubicBezTo>
                    <a:pt x="4813693" y="13220"/>
                    <a:pt x="4816592" y="20219"/>
                    <a:pt x="4816592" y="27517"/>
                  </a:cubicBezTo>
                  <a:lnTo>
                    <a:pt x="4816592" y="918967"/>
                  </a:lnTo>
                  <a:cubicBezTo>
                    <a:pt x="4816592" y="934164"/>
                    <a:pt x="4804273" y="946484"/>
                    <a:pt x="4789076" y="946484"/>
                  </a:cubicBezTo>
                  <a:lnTo>
                    <a:pt x="27517" y="946484"/>
                  </a:lnTo>
                  <a:cubicBezTo>
                    <a:pt x="12320" y="946484"/>
                    <a:pt x="0" y="934164"/>
                    <a:pt x="0" y="918967"/>
                  </a:cubicBezTo>
                  <a:lnTo>
                    <a:pt x="0" y="27517"/>
                  </a:lnTo>
                  <a:cubicBezTo>
                    <a:pt x="0" y="12320"/>
                    <a:pt x="12320" y="0"/>
                    <a:pt x="2751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984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494484" y="373987"/>
            <a:ext cx="764816" cy="788470"/>
          </a:xfrm>
          <a:custGeom>
            <a:avLst/>
            <a:gdLst/>
            <a:ahLst/>
            <a:cxnLst/>
            <a:rect r="r" b="b" t="t" l="l"/>
            <a:pathLst>
              <a:path h="788470" w="764816">
                <a:moveTo>
                  <a:pt x="0" y="0"/>
                </a:moveTo>
                <a:lnTo>
                  <a:pt x="764816" y="0"/>
                </a:lnTo>
                <a:lnTo>
                  <a:pt x="764816" y="788470"/>
                </a:lnTo>
                <a:lnTo>
                  <a:pt x="0" y="788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36720"/>
            <a:ext cx="493459" cy="463004"/>
            <a:chOff x="0" y="0"/>
            <a:chExt cx="657945" cy="617339"/>
          </a:xfrm>
        </p:grpSpPr>
        <p:sp>
          <p:nvSpPr>
            <p:cNvPr name="AutoShape 7" id="7"/>
            <p:cNvSpPr/>
            <p:nvPr/>
          </p:nvSpPr>
          <p:spPr>
            <a:xfrm>
              <a:off x="0" y="69850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0" y="30866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54748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21164" y="2533978"/>
            <a:ext cx="13051190" cy="6672421"/>
          </a:xfrm>
          <a:custGeom>
            <a:avLst/>
            <a:gdLst/>
            <a:ahLst/>
            <a:cxnLst/>
            <a:rect r="r" b="b" t="t" l="l"/>
            <a:pathLst>
              <a:path h="6672421" w="13051190">
                <a:moveTo>
                  <a:pt x="0" y="0"/>
                </a:moveTo>
                <a:lnTo>
                  <a:pt x="13051190" y="0"/>
                </a:lnTo>
                <a:lnTo>
                  <a:pt x="13051190" y="6672421"/>
                </a:lnTo>
                <a:lnTo>
                  <a:pt x="0" y="66724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156956" y="2208034"/>
            <a:ext cx="7957823" cy="71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507"/>
              </a:lnSpc>
            </a:pPr>
            <a:r>
              <a:rPr lang="ar-EG" b="true" sz="5195" spc="10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الدراسات المرجعية: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057400"/>
            <a:ext cx="18288000" cy="3593681"/>
            <a:chOff x="0" y="0"/>
            <a:chExt cx="4816593" cy="946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46484"/>
            </a:xfrm>
            <a:custGeom>
              <a:avLst/>
              <a:gdLst/>
              <a:ahLst/>
              <a:cxnLst/>
              <a:rect r="r" b="b" t="t" l="l"/>
              <a:pathLst>
                <a:path h="946484" w="4816592">
                  <a:moveTo>
                    <a:pt x="27517" y="0"/>
                  </a:moveTo>
                  <a:lnTo>
                    <a:pt x="4789076" y="0"/>
                  </a:lnTo>
                  <a:cubicBezTo>
                    <a:pt x="4796374" y="0"/>
                    <a:pt x="4803373" y="2899"/>
                    <a:pt x="4808533" y="8059"/>
                  </a:cubicBezTo>
                  <a:cubicBezTo>
                    <a:pt x="4813693" y="13220"/>
                    <a:pt x="4816592" y="20219"/>
                    <a:pt x="4816592" y="27517"/>
                  </a:cubicBezTo>
                  <a:lnTo>
                    <a:pt x="4816592" y="918967"/>
                  </a:lnTo>
                  <a:cubicBezTo>
                    <a:pt x="4816592" y="934164"/>
                    <a:pt x="4804273" y="946484"/>
                    <a:pt x="4789076" y="946484"/>
                  </a:cubicBezTo>
                  <a:lnTo>
                    <a:pt x="27517" y="946484"/>
                  </a:lnTo>
                  <a:cubicBezTo>
                    <a:pt x="12320" y="946484"/>
                    <a:pt x="0" y="934164"/>
                    <a:pt x="0" y="918967"/>
                  </a:cubicBezTo>
                  <a:lnTo>
                    <a:pt x="0" y="27517"/>
                  </a:lnTo>
                  <a:cubicBezTo>
                    <a:pt x="0" y="12320"/>
                    <a:pt x="12320" y="0"/>
                    <a:pt x="2751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984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494484" y="373987"/>
            <a:ext cx="764816" cy="788470"/>
          </a:xfrm>
          <a:custGeom>
            <a:avLst/>
            <a:gdLst/>
            <a:ahLst/>
            <a:cxnLst/>
            <a:rect r="r" b="b" t="t" l="l"/>
            <a:pathLst>
              <a:path h="788470" w="764816">
                <a:moveTo>
                  <a:pt x="0" y="0"/>
                </a:moveTo>
                <a:lnTo>
                  <a:pt x="764816" y="0"/>
                </a:lnTo>
                <a:lnTo>
                  <a:pt x="764816" y="788470"/>
                </a:lnTo>
                <a:lnTo>
                  <a:pt x="0" y="788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36720"/>
            <a:ext cx="493459" cy="463004"/>
            <a:chOff x="0" y="0"/>
            <a:chExt cx="657945" cy="617339"/>
          </a:xfrm>
        </p:grpSpPr>
        <p:sp>
          <p:nvSpPr>
            <p:cNvPr name="AutoShape 7" id="7"/>
            <p:cNvSpPr/>
            <p:nvPr/>
          </p:nvSpPr>
          <p:spPr>
            <a:xfrm>
              <a:off x="0" y="69850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0" y="30866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54748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10" id="10"/>
          <p:cNvSpPr/>
          <p:nvPr/>
        </p:nvSpPr>
        <p:spPr>
          <a:xfrm flipH="true">
            <a:off x="8404616" y="4038043"/>
            <a:ext cx="0" cy="37694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8279211" y="3975166"/>
            <a:ext cx="250811" cy="25081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79211" y="4903049"/>
            <a:ext cx="250811" cy="25081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79211" y="5834606"/>
            <a:ext cx="250811" cy="25081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79211" y="6766162"/>
            <a:ext cx="250811" cy="25081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79211" y="7661104"/>
            <a:ext cx="250811" cy="25081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90802" y="5381146"/>
            <a:ext cx="7607199" cy="3913519"/>
            <a:chOff x="0" y="0"/>
            <a:chExt cx="2209918" cy="11368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09918" cy="1136891"/>
            </a:xfrm>
            <a:custGeom>
              <a:avLst/>
              <a:gdLst/>
              <a:ahLst/>
              <a:cxnLst/>
              <a:rect r="r" b="b" t="t" l="l"/>
              <a:pathLst>
                <a:path h="1136891" w="2209918">
                  <a:moveTo>
                    <a:pt x="0" y="124380"/>
                  </a:moveTo>
                  <a:lnTo>
                    <a:pt x="0" y="740734"/>
                  </a:lnTo>
                  <a:cubicBezTo>
                    <a:pt x="0" y="809427"/>
                    <a:pt x="55687" y="865114"/>
                    <a:pt x="124380" y="865114"/>
                  </a:cubicBezTo>
                  <a:lnTo>
                    <a:pt x="267087" y="865114"/>
                  </a:lnTo>
                  <a:cubicBezTo>
                    <a:pt x="303063" y="865114"/>
                    <a:pt x="337276" y="880690"/>
                    <a:pt x="360898" y="907824"/>
                  </a:cubicBezTo>
                  <a:lnTo>
                    <a:pt x="523133" y="1094180"/>
                  </a:lnTo>
                  <a:cubicBezTo>
                    <a:pt x="546755" y="1121314"/>
                    <a:pt x="580969" y="1136891"/>
                    <a:pt x="616944" y="1136891"/>
                  </a:cubicBezTo>
                  <a:lnTo>
                    <a:pt x="1916058" y="1136891"/>
                  </a:lnTo>
                  <a:cubicBezTo>
                    <a:pt x="1951966" y="1136891"/>
                    <a:pt x="1986122" y="1121372"/>
                    <a:pt x="2009742" y="1094326"/>
                  </a:cubicBezTo>
                  <a:lnTo>
                    <a:pt x="2168933" y="912044"/>
                  </a:lnTo>
                  <a:cubicBezTo>
                    <a:pt x="2195357" y="881787"/>
                    <a:pt x="2209918" y="842978"/>
                    <a:pt x="2209918" y="802806"/>
                  </a:cubicBezTo>
                  <a:lnTo>
                    <a:pt x="2209918" y="124380"/>
                  </a:lnTo>
                  <a:cubicBezTo>
                    <a:pt x="2209918" y="91391"/>
                    <a:pt x="2196813" y="59754"/>
                    <a:pt x="2173486" y="36428"/>
                  </a:cubicBezTo>
                  <a:cubicBezTo>
                    <a:pt x="2150159" y="13102"/>
                    <a:pt x="2118522" y="-1"/>
                    <a:pt x="2085533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590802" y="5381146"/>
            <a:ext cx="7607199" cy="3913519"/>
            <a:chOff x="0" y="0"/>
            <a:chExt cx="2209918" cy="11368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09918" cy="1136891"/>
            </a:xfrm>
            <a:custGeom>
              <a:avLst/>
              <a:gdLst/>
              <a:ahLst/>
              <a:cxnLst/>
              <a:rect r="r" b="b" t="t" l="l"/>
              <a:pathLst>
                <a:path h="1136891" w="2209918">
                  <a:moveTo>
                    <a:pt x="0" y="124380"/>
                  </a:moveTo>
                  <a:lnTo>
                    <a:pt x="0" y="740734"/>
                  </a:lnTo>
                  <a:cubicBezTo>
                    <a:pt x="0" y="809427"/>
                    <a:pt x="55687" y="865114"/>
                    <a:pt x="124380" y="865114"/>
                  </a:cubicBezTo>
                  <a:lnTo>
                    <a:pt x="267087" y="865114"/>
                  </a:lnTo>
                  <a:cubicBezTo>
                    <a:pt x="303063" y="865114"/>
                    <a:pt x="337276" y="880690"/>
                    <a:pt x="360898" y="907824"/>
                  </a:cubicBezTo>
                  <a:lnTo>
                    <a:pt x="523133" y="1094180"/>
                  </a:lnTo>
                  <a:cubicBezTo>
                    <a:pt x="546755" y="1121314"/>
                    <a:pt x="580969" y="1136891"/>
                    <a:pt x="616944" y="1136891"/>
                  </a:cubicBezTo>
                  <a:lnTo>
                    <a:pt x="1916058" y="1136891"/>
                  </a:lnTo>
                  <a:cubicBezTo>
                    <a:pt x="1951966" y="1136891"/>
                    <a:pt x="1986122" y="1121372"/>
                    <a:pt x="2009742" y="1094326"/>
                  </a:cubicBezTo>
                  <a:lnTo>
                    <a:pt x="2168933" y="912044"/>
                  </a:lnTo>
                  <a:cubicBezTo>
                    <a:pt x="2195357" y="881787"/>
                    <a:pt x="2209918" y="842978"/>
                    <a:pt x="2209918" y="802806"/>
                  </a:cubicBezTo>
                  <a:lnTo>
                    <a:pt x="2209918" y="124380"/>
                  </a:lnTo>
                  <a:cubicBezTo>
                    <a:pt x="2209918" y="91391"/>
                    <a:pt x="2196813" y="59754"/>
                    <a:pt x="2173486" y="36428"/>
                  </a:cubicBezTo>
                  <a:cubicBezTo>
                    <a:pt x="2150159" y="13102"/>
                    <a:pt x="2118522" y="-1"/>
                    <a:pt x="2085533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blipFill>
              <a:blip r:embed="rId4"/>
              <a:stretch>
                <a:fillRect l="0" t="-29352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187247" y="3544030"/>
            <a:ext cx="7887535" cy="71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507"/>
              </a:lnSpc>
            </a:pPr>
            <a:r>
              <a:rPr lang="ar-EG" b="true" sz="5195" spc="10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            خطة المشروع: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577856" y="3967126"/>
            <a:ext cx="4145890" cy="38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918"/>
              </a:lnSpc>
            </a:pPr>
            <a:r>
              <a:rPr lang="ar-EG" b="true" sz="2753" spc="5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الدراسات المرجعية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12608" y="4895009"/>
            <a:ext cx="4411138" cy="38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2918"/>
              </a:lnSpc>
              <a:spcBef>
                <a:spcPct val="0"/>
              </a:spcBef>
            </a:pPr>
            <a:r>
              <a:rPr lang="ar-EG" b="true" sz="2753" spc="5" strike="noStrike" u="none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تجميع الداتا وتجهيزها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0059" y="5826566"/>
            <a:ext cx="6413687" cy="38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2918"/>
              </a:lnSpc>
              <a:spcBef>
                <a:spcPct val="0"/>
              </a:spcBef>
            </a:pPr>
            <a:r>
              <a:rPr lang="ar-EG" b="true" sz="2753" spc="5" strike="noStrike" u="none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مرحلة إختيار الأدوات والتقنيات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4385" y="6758123"/>
            <a:ext cx="6439361" cy="38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2918"/>
              </a:lnSpc>
              <a:spcBef>
                <a:spcPct val="0"/>
              </a:spcBef>
            </a:pPr>
            <a:r>
              <a:rPr lang="ar-EG" b="true" sz="2753" spc="5" strike="noStrike" u="none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مرحلة اختيار النموذج وتدريبه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5430" y="7689679"/>
            <a:ext cx="6439361" cy="38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2918"/>
              </a:lnSpc>
              <a:spcBef>
                <a:spcPct val="0"/>
              </a:spcBef>
            </a:pPr>
            <a:r>
              <a:rPr lang="ar-EG" b="true" sz="2753" spc="5" strike="noStrike" u="none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مرحلة تقييم النموذج واختباره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590802" y="8636804"/>
            <a:ext cx="657862" cy="657862"/>
            <a:chOff x="0" y="0"/>
            <a:chExt cx="877149" cy="877149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877149" cy="877149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E2F6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-10800000">
              <a:off x="225322" y="225322"/>
              <a:ext cx="426504" cy="426504"/>
              <a:chOff x="0" y="0"/>
              <a:chExt cx="406400" cy="4064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057400"/>
            <a:ext cx="18288000" cy="3593681"/>
            <a:chOff x="0" y="0"/>
            <a:chExt cx="4816593" cy="946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46484"/>
            </a:xfrm>
            <a:custGeom>
              <a:avLst/>
              <a:gdLst/>
              <a:ahLst/>
              <a:cxnLst/>
              <a:rect r="r" b="b" t="t" l="l"/>
              <a:pathLst>
                <a:path h="946484" w="4816592">
                  <a:moveTo>
                    <a:pt x="27517" y="0"/>
                  </a:moveTo>
                  <a:lnTo>
                    <a:pt x="4789076" y="0"/>
                  </a:lnTo>
                  <a:cubicBezTo>
                    <a:pt x="4796374" y="0"/>
                    <a:pt x="4803373" y="2899"/>
                    <a:pt x="4808533" y="8059"/>
                  </a:cubicBezTo>
                  <a:cubicBezTo>
                    <a:pt x="4813693" y="13220"/>
                    <a:pt x="4816592" y="20219"/>
                    <a:pt x="4816592" y="27517"/>
                  </a:cubicBezTo>
                  <a:lnTo>
                    <a:pt x="4816592" y="918967"/>
                  </a:lnTo>
                  <a:cubicBezTo>
                    <a:pt x="4816592" y="934164"/>
                    <a:pt x="4804273" y="946484"/>
                    <a:pt x="4789076" y="946484"/>
                  </a:cubicBezTo>
                  <a:lnTo>
                    <a:pt x="27517" y="946484"/>
                  </a:lnTo>
                  <a:cubicBezTo>
                    <a:pt x="12320" y="946484"/>
                    <a:pt x="0" y="934164"/>
                    <a:pt x="0" y="918967"/>
                  </a:cubicBezTo>
                  <a:lnTo>
                    <a:pt x="0" y="27517"/>
                  </a:lnTo>
                  <a:cubicBezTo>
                    <a:pt x="0" y="12320"/>
                    <a:pt x="12320" y="0"/>
                    <a:pt x="2751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984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494484" y="373987"/>
            <a:ext cx="764816" cy="788470"/>
          </a:xfrm>
          <a:custGeom>
            <a:avLst/>
            <a:gdLst/>
            <a:ahLst/>
            <a:cxnLst/>
            <a:rect r="r" b="b" t="t" l="l"/>
            <a:pathLst>
              <a:path h="788470" w="764816">
                <a:moveTo>
                  <a:pt x="0" y="0"/>
                </a:moveTo>
                <a:lnTo>
                  <a:pt x="764816" y="0"/>
                </a:lnTo>
                <a:lnTo>
                  <a:pt x="764816" y="788470"/>
                </a:lnTo>
                <a:lnTo>
                  <a:pt x="0" y="788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36720"/>
            <a:ext cx="493459" cy="463004"/>
            <a:chOff x="0" y="0"/>
            <a:chExt cx="657945" cy="617339"/>
          </a:xfrm>
        </p:grpSpPr>
        <p:sp>
          <p:nvSpPr>
            <p:cNvPr name="AutoShape 7" id="7"/>
            <p:cNvSpPr/>
            <p:nvPr/>
          </p:nvSpPr>
          <p:spPr>
            <a:xfrm>
              <a:off x="0" y="69850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0" y="30866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54748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737748" y="2150236"/>
            <a:ext cx="4812505" cy="7124677"/>
            <a:chOff x="0" y="0"/>
            <a:chExt cx="1199778" cy="17762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99777" cy="1776213"/>
            </a:xfrm>
            <a:custGeom>
              <a:avLst/>
              <a:gdLst/>
              <a:ahLst/>
              <a:cxnLst/>
              <a:rect r="r" b="b" t="t" l="l"/>
              <a:pathLst>
                <a:path h="1776213" w="1199777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1653512"/>
                  </a:lnTo>
                  <a:cubicBezTo>
                    <a:pt x="1" y="1721278"/>
                    <a:pt x="54936" y="1776213"/>
                    <a:pt x="122702" y="1776213"/>
                  </a:cubicBezTo>
                  <a:lnTo>
                    <a:pt x="1077074" y="1776213"/>
                  </a:lnTo>
                  <a:cubicBezTo>
                    <a:pt x="1144841" y="1776213"/>
                    <a:pt x="1199776" y="1721278"/>
                    <a:pt x="1199777" y="1653512"/>
                  </a:cubicBezTo>
                  <a:lnTo>
                    <a:pt x="1199777" y="122701"/>
                  </a:lnTo>
                  <a:cubicBezTo>
                    <a:pt x="1199776" y="54935"/>
                    <a:pt x="1144841" y="1"/>
                    <a:pt x="1077076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737748" y="2133623"/>
            <a:ext cx="4812505" cy="7124677"/>
            <a:chOff x="0" y="0"/>
            <a:chExt cx="1199778" cy="17762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9777" cy="1776213"/>
            </a:xfrm>
            <a:custGeom>
              <a:avLst/>
              <a:gdLst/>
              <a:ahLst/>
              <a:cxnLst/>
              <a:rect r="r" b="b" t="t" l="l"/>
              <a:pathLst>
                <a:path h="1776213" w="1199777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1653512"/>
                  </a:lnTo>
                  <a:cubicBezTo>
                    <a:pt x="1" y="1721278"/>
                    <a:pt x="54936" y="1776213"/>
                    <a:pt x="122702" y="1776213"/>
                  </a:cubicBezTo>
                  <a:lnTo>
                    <a:pt x="1077074" y="1776213"/>
                  </a:lnTo>
                  <a:cubicBezTo>
                    <a:pt x="1144841" y="1776213"/>
                    <a:pt x="1199776" y="1721278"/>
                    <a:pt x="1199777" y="1653512"/>
                  </a:cubicBezTo>
                  <a:lnTo>
                    <a:pt x="1199777" y="122701"/>
                  </a:lnTo>
                  <a:cubicBezTo>
                    <a:pt x="1199776" y="54935"/>
                    <a:pt x="1144841" y="1"/>
                    <a:pt x="1077076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close/>
                </a:path>
              </a:pathLst>
            </a:custGeom>
            <a:blipFill>
              <a:blip r:embed="rId4"/>
              <a:stretch>
                <a:fillRect l="-53161" t="0" r="-6931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724213" y="5073970"/>
            <a:ext cx="9371304" cy="47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676"/>
              </a:lnSpc>
            </a:pPr>
            <a:r>
              <a:rPr lang="ar-EG" b="true" sz="3468" spc="6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الأدوات والتقنيات المتوقع استخدامها: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6926" y="2162288"/>
            <a:ext cx="4434347" cy="58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ar-EG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لغة بايثون</a:t>
            </a:r>
          </a:p>
          <a:p>
            <a:pPr algn="r" rtl="true">
              <a:lnSpc>
                <a:spcPts val="2282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681273" y="2162198"/>
            <a:ext cx="633765" cy="2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3656" y="3247675"/>
            <a:ext cx="4187617" cy="295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KAGGLE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81273" y="3247585"/>
            <a:ext cx="633765" cy="2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3656" y="4333062"/>
            <a:ext cx="4187617" cy="295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CNN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81273" y="4332972"/>
            <a:ext cx="633765" cy="2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7233" y="5417109"/>
            <a:ext cx="4844040" cy="295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ar-EG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مكتبة </a:t>
            </a: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PANDAS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81273" y="5417019"/>
            <a:ext cx="633765" cy="2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8562" y="6501156"/>
            <a:ext cx="4844040" cy="295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ar-EG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مكتبة </a:t>
            </a: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TENSORFLOW KERAS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92602" y="6501066"/>
            <a:ext cx="633765" cy="2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05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737748" y="2317322"/>
            <a:ext cx="916280" cy="916280"/>
            <a:chOff x="0" y="0"/>
            <a:chExt cx="1221706" cy="122170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221706" cy="1221706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E2F6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-10800000">
              <a:off x="313832" y="313832"/>
              <a:ext cx="594041" cy="594041"/>
              <a:chOff x="0" y="0"/>
              <a:chExt cx="406400" cy="4064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057400"/>
            <a:ext cx="18288000" cy="3593681"/>
            <a:chOff x="0" y="0"/>
            <a:chExt cx="4816593" cy="946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46484"/>
            </a:xfrm>
            <a:custGeom>
              <a:avLst/>
              <a:gdLst/>
              <a:ahLst/>
              <a:cxnLst/>
              <a:rect r="r" b="b" t="t" l="l"/>
              <a:pathLst>
                <a:path h="946484" w="4816592">
                  <a:moveTo>
                    <a:pt x="27517" y="0"/>
                  </a:moveTo>
                  <a:lnTo>
                    <a:pt x="4789076" y="0"/>
                  </a:lnTo>
                  <a:cubicBezTo>
                    <a:pt x="4796374" y="0"/>
                    <a:pt x="4803373" y="2899"/>
                    <a:pt x="4808533" y="8059"/>
                  </a:cubicBezTo>
                  <a:cubicBezTo>
                    <a:pt x="4813693" y="13220"/>
                    <a:pt x="4816592" y="20219"/>
                    <a:pt x="4816592" y="27517"/>
                  </a:cubicBezTo>
                  <a:lnTo>
                    <a:pt x="4816592" y="918967"/>
                  </a:lnTo>
                  <a:cubicBezTo>
                    <a:pt x="4816592" y="934164"/>
                    <a:pt x="4804273" y="946484"/>
                    <a:pt x="4789076" y="946484"/>
                  </a:cubicBezTo>
                  <a:lnTo>
                    <a:pt x="27517" y="946484"/>
                  </a:lnTo>
                  <a:cubicBezTo>
                    <a:pt x="12320" y="946484"/>
                    <a:pt x="0" y="934164"/>
                    <a:pt x="0" y="918967"/>
                  </a:cubicBezTo>
                  <a:lnTo>
                    <a:pt x="0" y="27517"/>
                  </a:lnTo>
                  <a:cubicBezTo>
                    <a:pt x="0" y="12320"/>
                    <a:pt x="12320" y="0"/>
                    <a:pt x="2751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984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494484" y="373987"/>
            <a:ext cx="764816" cy="788470"/>
          </a:xfrm>
          <a:custGeom>
            <a:avLst/>
            <a:gdLst/>
            <a:ahLst/>
            <a:cxnLst/>
            <a:rect r="r" b="b" t="t" l="l"/>
            <a:pathLst>
              <a:path h="788470" w="764816">
                <a:moveTo>
                  <a:pt x="0" y="0"/>
                </a:moveTo>
                <a:lnTo>
                  <a:pt x="764816" y="0"/>
                </a:lnTo>
                <a:lnTo>
                  <a:pt x="764816" y="788470"/>
                </a:lnTo>
                <a:lnTo>
                  <a:pt x="0" y="788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36720"/>
            <a:ext cx="493459" cy="463004"/>
            <a:chOff x="0" y="0"/>
            <a:chExt cx="657945" cy="617339"/>
          </a:xfrm>
        </p:grpSpPr>
        <p:sp>
          <p:nvSpPr>
            <p:cNvPr name="AutoShape 7" id="7"/>
            <p:cNvSpPr/>
            <p:nvPr/>
          </p:nvSpPr>
          <p:spPr>
            <a:xfrm>
              <a:off x="0" y="69850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0" y="30866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54748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2136205"/>
            <a:ext cx="7901725" cy="3237271"/>
            <a:chOff x="0" y="0"/>
            <a:chExt cx="3192504" cy="13079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92503" cy="1307943"/>
            </a:xfrm>
            <a:custGeom>
              <a:avLst/>
              <a:gdLst/>
              <a:ahLst/>
              <a:cxnLst/>
              <a:rect r="r" b="b" t="t" l="l"/>
              <a:pathLst>
                <a:path h="1307943" w="3192503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1185242"/>
                  </a:lnTo>
                  <a:cubicBezTo>
                    <a:pt x="1" y="1253008"/>
                    <a:pt x="54936" y="1307943"/>
                    <a:pt x="122702" y="1307943"/>
                  </a:cubicBezTo>
                  <a:lnTo>
                    <a:pt x="3069801" y="1307943"/>
                  </a:lnTo>
                  <a:cubicBezTo>
                    <a:pt x="3137567" y="1307943"/>
                    <a:pt x="3192502" y="1253008"/>
                    <a:pt x="3192503" y="1185242"/>
                  </a:cubicBezTo>
                  <a:lnTo>
                    <a:pt x="3192503" y="122701"/>
                  </a:lnTo>
                  <a:cubicBezTo>
                    <a:pt x="3192502" y="54935"/>
                    <a:pt x="3137568" y="1"/>
                    <a:pt x="3069802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2133623"/>
            <a:ext cx="7901725" cy="3237271"/>
            <a:chOff x="0" y="0"/>
            <a:chExt cx="3192504" cy="13079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92503" cy="1307943"/>
            </a:xfrm>
            <a:custGeom>
              <a:avLst/>
              <a:gdLst/>
              <a:ahLst/>
              <a:cxnLst/>
              <a:rect r="r" b="b" t="t" l="l"/>
              <a:pathLst>
                <a:path h="1307943" w="3192503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1185242"/>
                  </a:lnTo>
                  <a:cubicBezTo>
                    <a:pt x="1" y="1253008"/>
                    <a:pt x="54936" y="1307943"/>
                    <a:pt x="122702" y="1307943"/>
                  </a:cubicBezTo>
                  <a:lnTo>
                    <a:pt x="3069801" y="1307943"/>
                  </a:lnTo>
                  <a:cubicBezTo>
                    <a:pt x="3137567" y="1307943"/>
                    <a:pt x="3192502" y="1253008"/>
                    <a:pt x="3192503" y="1185242"/>
                  </a:cubicBezTo>
                  <a:lnTo>
                    <a:pt x="3192503" y="122701"/>
                  </a:lnTo>
                  <a:cubicBezTo>
                    <a:pt x="3192502" y="54935"/>
                    <a:pt x="3137568" y="1"/>
                    <a:pt x="3069802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close/>
                </a:path>
              </a:pathLst>
            </a:custGeom>
            <a:blipFill>
              <a:blip r:embed="rId4"/>
              <a:stretch>
                <a:fillRect l="0" t="-24101" r="0" b="-3743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790754" y="3033696"/>
            <a:ext cx="6717283" cy="71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507"/>
              </a:lnSpc>
            </a:pPr>
            <a:r>
              <a:rPr lang="ar-EG" b="true" sz="5195" spc="10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  <a:rtl val="true"/>
              </a:rPr>
              <a:t>توصيف الداتا: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69543" y="4267633"/>
            <a:ext cx="5726171" cy="42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3250"/>
              </a:lnSpc>
            </a:pPr>
            <a:r>
              <a:rPr lang="ar-EG" b="true" sz="3066" spc="6">
                <a:solidFill>
                  <a:srgbClr val="000000"/>
                </a:solidFill>
                <a:latin typeface="IBM Plex Sans Arabic Semi-Bold"/>
                <a:ea typeface="IBM Plex Sans Arabic Semi-Bold"/>
                <a:cs typeface="IBM Plex Sans Arabic Semi-Bold"/>
                <a:sym typeface="IBM Plex Sans Arabic Semi-Bold"/>
                <a:rtl val="true"/>
              </a:rPr>
              <a:t>تم جمع الداتا من </a:t>
            </a:r>
            <a:r>
              <a:rPr lang="en-US" b="true" sz="3066" spc="6">
                <a:solidFill>
                  <a:srgbClr val="000000"/>
                </a:solidFill>
                <a:latin typeface="IBM Plex Sans Arabic Semi-Bold"/>
                <a:ea typeface="IBM Plex Sans Arabic Semi-Bold"/>
                <a:cs typeface="IBM Plex Sans Arabic Semi-Bold"/>
                <a:sym typeface="IBM Plex Sans Arabic Semi-Bold"/>
              </a:rPr>
              <a:t>3</a:t>
            </a:r>
            <a:r>
              <a:rPr lang="ar-EG" b="true" sz="3066" spc="6">
                <a:solidFill>
                  <a:srgbClr val="000000"/>
                </a:solidFill>
                <a:latin typeface="IBM Plex Sans Arabic Semi-Bold"/>
                <a:ea typeface="IBM Plex Sans Arabic Semi-Bold"/>
                <a:cs typeface="IBM Plex Sans Arabic Semi-Bold"/>
                <a:sym typeface="IBM Plex Sans Arabic Semi-Bold"/>
                <a:rtl val="true"/>
              </a:rPr>
              <a:t> مصادر مختلفة: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86192" y="6062284"/>
            <a:ext cx="3763480" cy="295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SKIN DISEEASES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95714" y="6062284"/>
            <a:ext cx="663586" cy="2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03782" y="6423773"/>
            <a:ext cx="4145890" cy="1313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1928" spc="3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LABEL:</a:t>
            </a:r>
          </a:p>
          <a:p>
            <a:pPr algn="ctr">
              <a:lnSpc>
                <a:spcPts val="2699"/>
              </a:lnSpc>
            </a:pPr>
            <a:r>
              <a:rPr lang="en-US" sz="1928" spc="3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AKNE</a:t>
            </a:r>
          </a:p>
          <a:p>
            <a:pPr algn="ctr">
              <a:lnSpc>
                <a:spcPts val="2699"/>
              </a:lnSpc>
            </a:pPr>
            <a:r>
              <a:rPr lang="en-US" sz="1928" spc="3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EKZAMA</a:t>
            </a:r>
          </a:p>
          <a:p>
            <a:pPr algn="ctr">
              <a:lnSpc>
                <a:spcPts val="269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881232" y="6001975"/>
            <a:ext cx="3763480" cy="295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VITILIGO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90754" y="6001975"/>
            <a:ext cx="663586" cy="2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98822" y="6363464"/>
            <a:ext cx="4145890" cy="979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1928" spc="3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LABEL:</a:t>
            </a:r>
          </a:p>
          <a:p>
            <a:pPr algn="ctr">
              <a:lnSpc>
                <a:spcPts val="2699"/>
              </a:lnSpc>
            </a:pPr>
            <a:r>
              <a:rPr lang="en-US" sz="1928" spc="3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HEALTHY</a:t>
            </a:r>
          </a:p>
          <a:p>
            <a:pPr algn="ctr">
              <a:lnSpc>
                <a:spcPts val="2699"/>
              </a:lnSpc>
            </a:pPr>
            <a:r>
              <a:rPr lang="en-US" sz="1928" spc="3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VITILIGO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1110" y="6001975"/>
            <a:ext cx="3763480" cy="295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IMAGENET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20632" y="6001975"/>
            <a:ext cx="663586" cy="29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282"/>
              </a:lnSpc>
            </a:pPr>
            <a:r>
              <a:rPr lang="en-US" b="true" sz="2153" spc="4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6363464"/>
            <a:ext cx="4145890" cy="64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1928" spc="3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LABEL:</a:t>
            </a:r>
          </a:p>
          <a:p>
            <a:pPr algn="ctr">
              <a:lnSpc>
                <a:spcPts val="2699"/>
              </a:lnSpc>
            </a:pPr>
            <a:r>
              <a:rPr lang="en-US" sz="1928" spc="3">
                <a:solidFill>
                  <a:srgbClr val="000000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NON-SKIN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28700" y="2136205"/>
            <a:ext cx="592149" cy="592149"/>
            <a:chOff x="0" y="0"/>
            <a:chExt cx="789532" cy="789532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89532" cy="789532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E2F6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-10800000">
              <a:off x="202815" y="202815"/>
              <a:ext cx="383901" cy="383901"/>
              <a:chOff x="0" y="0"/>
              <a:chExt cx="406400" cy="4064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0" y="0"/>
                    </a:moveTo>
                    <a:lnTo>
                      <a:pt x="203200" y="0"/>
                    </a:lnTo>
                    <a:lnTo>
                      <a:pt x="406400" y="203200"/>
                    </a:lnTo>
                    <a:lnTo>
                      <a:pt x="2032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77800" y="-38100"/>
                <a:ext cx="1524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1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057400"/>
            <a:ext cx="18288000" cy="3593681"/>
            <a:chOff x="0" y="0"/>
            <a:chExt cx="4816593" cy="946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46484"/>
            </a:xfrm>
            <a:custGeom>
              <a:avLst/>
              <a:gdLst/>
              <a:ahLst/>
              <a:cxnLst/>
              <a:rect r="r" b="b" t="t" l="l"/>
              <a:pathLst>
                <a:path h="946484" w="4816592">
                  <a:moveTo>
                    <a:pt x="27517" y="0"/>
                  </a:moveTo>
                  <a:lnTo>
                    <a:pt x="4789076" y="0"/>
                  </a:lnTo>
                  <a:cubicBezTo>
                    <a:pt x="4796374" y="0"/>
                    <a:pt x="4803373" y="2899"/>
                    <a:pt x="4808533" y="8059"/>
                  </a:cubicBezTo>
                  <a:cubicBezTo>
                    <a:pt x="4813693" y="13220"/>
                    <a:pt x="4816592" y="20219"/>
                    <a:pt x="4816592" y="27517"/>
                  </a:cubicBezTo>
                  <a:lnTo>
                    <a:pt x="4816592" y="918967"/>
                  </a:lnTo>
                  <a:cubicBezTo>
                    <a:pt x="4816592" y="934164"/>
                    <a:pt x="4804273" y="946484"/>
                    <a:pt x="4789076" y="946484"/>
                  </a:cubicBezTo>
                  <a:lnTo>
                    <a:pt x="27517" y="946484"/>
                  </a:lnTo>
                  <a:cubicBezTo>
                    <a:pt x="12320" y="946484"/>
                    <a:pt x="0" y="934164"/>
                    <a:pt x="0" y="918967"/>
                  </a:cubicBezTo>
                  <a:lnTo>
                    <a:pt x="0" y="27517"/>
                  </a:lnTo>
                  <a:cubicBezTo>
                    <a:pt x="0" y="12320"/>
                    <a:pt x="12320" y="0"/>
                    <a:pt x="2751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984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494484" y="373987"/>
            <a:ext cx="764816" cy="788470"/>
          </a:xfrm>
          <a:custGeom>
            <a:avLst/>
            <a:gdLst/>
            <a:ahLst/>
            <a:cxnLst/>
            <a:rect r="r" b="b" t="t" l="l"/>
            <a:pathLst>
              <a:path h="788470" w="764816">
                <a:moveTo>
                  <a:pt x="0" y="0"/>
                </a:moveTo>
                <a:lnTo>
                  <a:pt x="764816" y="0"/>
                </a:lnTo>
                <a:lnTo>
                  <a:pt x="764816" y="788470"/>
                </a:lnTo>
                <a:lnTo>
                  <a:pt x="0" y="788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36720"/>
            <a:ext cx="493459" cy="463004"/>
            <a:chOff x="0" y="0"/>
            <a:chExt cx="657945" cy="617339"/>
          </a:xfrm>
        </p:grpSpPr>
        <p:sp>
          <p:nvSpPr>
            <p:cNvPr name="AutoShape 7" id="7"/>
            <p:cNvSpPr/>
            <p:nvPr/>
          </p:nvSpPr>
          <p:spPr>
            <a:xfrm>
              <a:off x="0" y="69850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0" y="30866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547489"/>
              <a:ext cx="657945" cy="0"/>
            </a:xfrm>
            <a:prstGeom prst="line">
              <a:avLst/>
            </a:prstGeom>
            <a:ln cap="flat" w="139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03357" y="3917483"/>
            <a:ext cx="7941664" cy="3237271"/>
            <a:chOff x="0" y="0"/>
            <a:chExt cx="2112836" cy="8612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12838" cy="861258"/>
            </a:xfrm>
            <a:custGeom>
              <a:avLst/>
              <a:gdLst/>
              <a:ahLst/>
              <a:cxnLst/>
              <a:rect r="r" b="b" t="t" l="l"/>
              <a:pathLst>
                <a:path h="861258" w="2112838">
                  <a:moveTo>
                    <a:pt x="1765880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964423" y="861258"/>
                  </a:lnTo>
                  <a:cubicBezTo>
                    <a:pt x="2003785" y="861258"/>
                    <a:pt x="2041535" y="845622"/>
                    <a:pt x="2069368" y="817789"/>
                  </a:cubicBezTo>
                  <a:cubicBezTo>
                    <a:pt x="2097202" y="789956"/>
                    <a:pt x="2112838" y="752206"/>
                    <a:pt x="2112838" y="712843"/>
                  </a:cubicBezTo>
                  <a:lnTo>
                    <a:pt x="2112838" y="366141"/>
                  </a:lnTo>
                  <a:cubicBezTo>
                    <a:pt x="2112839" y="329143"/>
                    <a:pt x="2099020" y="293478"/>
                    <a:pt x="2074090" y="266140"/>
                  </a:cubicBezTo>
                  <a:lnTo>
                    <a:pt x="1875547" y="48414"/>
                  </a:lnTo>
                  <a:cubicBezTo>
                    <a:pt x="1847424" y="17574"/>
                    <a:pt x="1807616" y="0"/>
                    <a:pt x="1765880" y="0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03357" y="3917483"/>
            <a:ext cx="7941664" cy="3237271"/>
            <a:chOff x="0" y="0"/>
            <a:chExt cx="2112836" cy="8612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12838" cy="861258"/>
            </a:xfrm>
            <a:custGeom>
              <a:avLst/>
              <a:gdLst/>
              <a:ahLst/>
              <a:cxnLst/>
              <a:rect r="r" b="b" t="t" l="l"/>
              <a:pathLst>
                <a:path h="861258" w="2112838">
                  <a:moveTo>
                    <a:pt x="1765880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964423" y="861258"/>
                  </a:lnTo>
                  <a:cubicBezTo>
                    <a:pt x="2003785" y="861258"/>
                    <a:pt x="2041535" y="845622"/>
                    <a:pt x="2069368" y="817789"/>
                  </a:cubicBezTo>
                  <a:cubicBezTo>
                    <a:pt x="2097202" y="789956"/>
                    <a:pt x="2112838" y="752206"/>
                    <a:pt x="2112838" y="712843"/>
                  </a:cubicBezTo>
                  <a:lnTo>
                    <a:pt x="2112838" y="366141"/>
                  </a:lnTo>
                  <a:cubicBezTo>
                    <a:pt x="2112839" y="329143"/>
                    <a:pt x="2099020" y="293478"/>
                    <a:pt x="2074090" y="266140"/>
                  </a:cubicBezTo>
                  <a:lnTo>
                    <a:pt x="1875547" y="48414"/>
                  </a:lnTo>
                  <a:cubicBezTo>
                    <a:pt x="1847424" y="17574"/>
                    <a:pt x="1807616" y="0"/>
                    <a:pt x="176588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57981" r="0" b="-526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417767" y="5229225"/>
            <a:ext cx="9669801" cy="897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b="true" sz="6505" spc="13">
                <a:solidFill>
                  <a:srgbClr val="000000"/>
                </a:solidFill>
                <a:latin typeface="IBM Plex Sans Arabic Bold"/>
                <a:ea typeface="IBM Plex Sans Arabic Bold"/>
                <a:cs typeface="IBM Plex Sans Arabic Bold"/>
                <a:sym typeface="IBM Plex Sans Arabic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DAHZZk1-syE</dc:identifier>
  <dcterms:modified xsi:type="dcterms:W3CDTF">2011-08-01T06:04:30Z</dcterms:modified>
  <cp:revision>1</cp:revision>
  <dc:title>عرض تقديمي ورشة عمل حول الذكاء الاصطناعي للمعلمين الأزرق الفاتح والأبيض عصري ومحترف</dc:title>
</cp:coreProperties>
</file>